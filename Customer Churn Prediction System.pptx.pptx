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Inter" charset="1" panose="02000503000000020004"/>
      <p:regular r:id="rId19"/>
    </p:embeddedFont>
    <p:embeddedFont>
      <p:font typeface="Arimo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4.png" Type="http://schemas.openxmlformats.org/officeDocument/2006/relationships/image"/><Relationship Id="rId4" Target="../media/image25.jpeg" Type="http://schemas.openxmlformats.org/officeDocument/2006/relationships/image"/><Relationship Id="rId5" Target="../media/image26.pn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7.png" Type="http://schemas.openxmlformats.org/officeDocument/2006/relationships/image"/><Relationship Id="rId4" Target="../media/image28.jpeg" Type="http://schemas.openxmlformats.org/officeDocument/2006/relationships/image"/><Relationship Id="rId5" Target="../media/image26.pn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9.png" Type="http://schemas.openxmlformats.org/officeDocument/2006/relationships/image"/><Relationship Id="rId4" Target="../media/image30.jpeg" Type="http://schemas.openxmlformats.org/officeDocument/2006/relationships/image"/><Relationship Id="rId5" Target="../media/image26.pn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jpeg" Type="http://schemas.openxmlformats.org/officeDocument/2006/relationships/image"/><Relationship Id="rId2" Target="../media/image6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https://deep-learning-project-mm9ah4nhx8foljhsmafzp5.streamlit.app" TargetMode="External" Type="http://schemas.openxmlformats.org/officeDocument/2006/relationships/hyperlink"/><Relationship Id="rId7" Target="../media/image50.png" Type="http://schemas.openxmlformats.org/officeDocument/2006/relationships/image"/><Relationship Id="rId8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887512"/>
            <a:ext cx="5234991" cy="557212"/>
            <a:chOff x="0" y="0"/>
            <a:chExt cx="6979987" cy="7429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79987" cy="742950"/>
            </a:xfrm>
            <a:custGeom>
              <a:avLst/>
              <a:gdLst/>
              <a:ahLst/>
              <a:cxnLst/>
              <a:rect r="r" b="b" t="t" l="l"/>
              <a:pathLst>
                <a:path h="742950" w="6979987">
                  <a:moveTo>
                    <a:pt x="0" y="0"/>
                  </a:moveTo>
                  <a:lnTo>
                    <a:pt x="6979987" y="0"/>
                  </a:lnTo>
                  <a:lnTo>
                    <a:pt x="6979987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031" r="0" b="-1003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7984" y="2037531"/>
            <a:ext cx="278606" cy="257175"/>
            <a:chOff x="0" y="0"/>
            <a:chExt cx="371475" cy="342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71475" cy="342900"/>
            </a:xfrm>
            <a:custGeom>
              <a:avLst/>
              <a:gdLst/>
              <a:ahLst/>
              <a:cxnLst/>
              <a:rect r="r" b="b" t="t" l="l"/>
              <a:pathLst>
                <a:path h="342900" w="371475">
                  <a:moveTo>
                    <a:pt x="0" y="0"/>
                  </a:moveTo>
                  <a:lnTo>
                    <a:pt x="371475" y="0"/>
                  </a:lnTo>
                  <a:lnTo>
                    <a:pt x="371475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59" r="0" b="-145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71750" y="7213625"/>
            <a:ext cx="500062" cy="400050"/>
            <a:chOff x="0" y="0"/>
            <a:chExt cx="666750" cy="533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5" r="0" b="-17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86562" y="7213625"/>
            <a:ext cx="500062" cy="400050"/>
            <a:chOff x="0" y="0"/>
            <a:chExt cx="666750" cy="533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5" r="0" b="-178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01375" y="7213625"/>
            <a:ext cx="500062" cy="400050"/>
            <a:chOff x="0" y="0"/>
            <a:chExt cx="666750" cy="533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5" r="0" b="-178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16188" y="7213625"/>
            <a:ext cx="500062" cy="400050"/>
            <a:chOff x="0" y="0"/>
            <a:chExt cx="666750" cy="533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5" r="0" b="-178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94703" y="8592264"/>
            <a:ext cx="4054157" cy="1332073"/>
            <a:chOff x="0" y="0"/>
            <a:chExt cx="6055438" cy="1989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55438" cy="1989632"/>
            </a:xfrm>
            <a:custGeom>
              <a:avLst/>
              <a:gdLst/>
              <a:ahLst/>
              <a:cxnLst/>
              <a:rect r="r" b="b" t="t" l="l"/>
              <a:pathLst>
                <a:path h="1989632" w="6055438">
                  <a:moveTo>
                    <a:pt x="0" y="0"/>
                  </a:moveTo>
                  <a:lnTo>
                    <a:pt x="6055438" y="0"/>
                  </a:lnTo>
                  <a:lnTo>
                    <a:pt x="6055438" y="1989632"/>
                  </a:lnTo>
                  <a:lnTo>
                    <a:pt x="0" y="1989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93" t="0" r="-993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3342096"/>
            <a:ext cx="1740217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5"/>
              </a:lnSpc>
            </a:pPr>
            <a:r>
              <a:rPr lang="en-US" sz="63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Customer Churn Prediction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7288" y="7747025"/>
            <a:ext cx="33289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Yasser Al-Ghamdi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72100" y="7747025"/>
            <a:ext cx="33289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Mohammed Al-Hajli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29853" y="7747025"/>
            <a:ext cx="10431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Mishari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6535" y="7747025"/>
            <a:ext cx="159936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Nawaf Zakri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36119"/>
            <a:ext cx="8072438" cy="5000625"/>
            <a:chOff x="0" y="0"/>
            <a:chExt cx="10763250" cy="6667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6325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2" r="0" b="-14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58312" y="3236119"/>
            <a:ext cx="8072438" cy="5000625"/>
            <a:chOff x="0" y="0"/>
            <a:chExt cx="10763250" cy="6667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6325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2" r="0" b="-14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35819"/>
            <a:ext cx="507206" cy="514350"/>
            <a:chOff x="0" y="0"/>
            <a:chExt cx="676275" cy="685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6275" cy="685800"/>
            </a:xfrm>
            <a:custGeom>
              <a:avLst/>
              <a:gdLst/>
              <a:ahLst/>
              <a:cxnLst/>
              <a:rect r="r" b="b" t="t" l="l"/>
              <a:pathLst>
                <a:path h="685800" w="676275">
                  <a:moveTo>
                    <a:pt x="0" y="0"/>
                  </a:moveTo>
                  <a:lnTo>
                    <a:pt x="676275" y="0"/>
                  </a:lnTo>
                  <a:lnTo>
                    <a:pt x="67627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5" r="0" b="-67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28738" y="3707606"/>
            <a:ext cx="771525" cy="771525"/>
            <a:chOff x="0" y="0"/>
            <a:chExt cx="1028700" cy="10287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25" r="0" b="-92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8738" y="4745831"/>
            <a:ext cx="427351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What is Customer Churn?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5322094"/>
            <a:ext cx="7129462" cy="244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Customer churn occurs when a subscriber stops using a company’s service. Retaining existing customers is critical as it directly supports long-term sustainable business growth.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29800" y="3707606"/>
            <a:ext cx="771525" cy="771525"/>
            <a:chOff x="0" y="0"/>
            <a:chExt cx="1028700" cy="10287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25" r="0" b="-92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29800" y="4745831"/>
            <a:ext cx="7485936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Project Objective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29800" y="5322094"/>
            <a:ext cx="7129462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an end-to-end Deep Learning model to predict whether a telecom customer will churn or stay based on demographics, accounts, services, contracts, and charges.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64469" y="3893344"/>
            <a:ext cx="500062" cy="400050"/>
            <a:chOff x="0" y="0"/>
            <a:chExt cx="666750" cy="533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47" r="0" b="-34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15538" y="3893344"/>
            <a:ext cx="400050" cy="400050"/>
            <a:chOff x="0" y="0"/>
            <a:chExt cx="53340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785" r="0" b="-178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78769" y="714375"/>
            <a:ext cx="16644576" cy="757238"/>
            <a:chOff x="0" y="0"/>
            <a:chExt cx="22192767" cy="10096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92773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192773">
                  <a:moveTo>
                    <a:pt x="0" y="0"/>
                  </a:moveTo>
                  <a:lnTo>
                    <a:pt x="22192773" y="0"/>
                  </a:lnTo>
                  <a:lnTo>
                    <a:pt x="22192773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8293" r="0" b="-3782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2192767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 Introduction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471862"/>
            <a:ext cx="8072438" cy="4529138"/>
            <a:chOff x="0" y="0"/>
            <a:chExt cx="10763250" cy="6038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63250" cy="6038850"/>
            </a:xfrm>
            <a:custGeom>
              <a:avLst/>
              <a:gdLst/>
              <a:ahLst/>
              <a:cxnLst/>
              <a:rect r="r" b="b" t="t" l="l"/>
              <a:pathLst>
                <a:path h="60388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038850"/>
                  </a:lnTo>
                  <a:lnTo>
                    <a:pt x="0" y="603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58312" y="3471862"/>
            <a:ext cx="8072438" cy="4529138"/>
            <a:chOff x="0" y="0"/>
            <a:chExt cx="10763250" cy="6038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63250" cy="6038850"/>
            </a:xfrm>
            <a:custGeom>
              <a:avLst/>
              <a:gdLst/>
              <a:ahLst/>
              <a:cxnLst/>
              <a:rect r="r" b="b" t="t" l="l"/>
              <a:pathLst>
                <a:path h="60388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038850"/>
                  </a:lnTo>
                  <a:lnTo>
                    <a:pt x="0" y="603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35819"/>
            <a:ext cx="507206" cy="514350"/>
            <a:chOff x="0" y="0"/>
            <a:chExt cx="676275" cy="685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6275" cy="685800"/>
            </a:xfrm>
            <a:custGeom>
              <a:avLst/>
              <a:gdLst/>
              <a:ahLst/>
              <a:cxnLst/>
              <a:rect r="r" b="b" t="t" l="l"/>
              <a:pathLst>
                <a:path h="685800" w="676275">
                  <a:moveTo>
                    <a:pt x="0" y="0"/>
                  </a:moveTo>
                  <a:lnTo>
                    <a:pt x="676275" y="0"/>
                  </a:lnTo>
                  <a:lnTo>
                    <a:pt x="67627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5" r="0" b="-67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28738" y="3943350"/>
            <a:ext cx="771525" cy="771525"/>
            <a:chOff x="0" y="0"/>
            <a:chExt cx="1028700" cy="10287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8738" y="4981575"/>
            <a:ext cx="7485936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Business &amp; Financial 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738" y="5557837"/>
            <a:ext cx="7129462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customer churn significantly reduces recurring revenue and lowers total Customer Lifetime Value (LTV) in competitive telecom markets.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29800" y="3943350"/>
            <a:ext cx="771525" cy="771525"/>
            <a:chOff x="0" y="0"/>
            <a:chExt cx="1028700" cy="10287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29800" y="4981575"/>
            <a:ext cx="7485936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Class Imbalance &amp; Data Complexity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29800" y="5557837"/>
            <a:ext cx="7129462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dataset contains mixed numerical and categorical features with heavy class imbalance (far more customers stay than churn), making standard detection difficult.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85900" y="4129088"/>
            <a:ext cx="457200" cy="400050"/>
            <a:chOff x="0" y="0"/>
            <a:chExt cx="609600" cy="533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65531" y="4129088"/>
            <a:ext cx="500062" cy="400050"/>
            <a:chOff x="0" y="0"/>
            <a:chExt cx="66675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28" t="0" r="-1428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78769" y="714375"/>
            <a:ext cx="16644576" cy="757238"/>
            <a:chOff x="0" y="0"/>
            <a:chExt cx="22192767" cy="10096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92773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192773">
                  <a:moveTo>
                    <a:pt x="0" y="0"/>
                  </a:moveTo>
                  <a:lnTo>
                    <a:pt x="22192773" y="0"/>
                  </a:lnTo>
                  <a:lnTo>
                    <a:pt x="22192773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8293" r="0" b="-3782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2192767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2. Key Challenges &amp; Problems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35819"/>
            <a:ext cx="378619" cy="514350"/>
            <a:chOff x="0" y="0"/>
            <a:chExt cx="504825" cy="685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04825" cy="685800"/>
            </a:xfrm>
            <a:custGeom>
              <a:avLst/>
              <a:gdLst/>
              <a:ahLst/>
              <a:cxnLst/>
              <a:rect r="r" b="b" t="t" l="l"/>
              <a:pathLst>
                <a:path h="685800" w="504825">
                  <a:moveTo>
                    <a:pt x="0" y="0"/>
                  </a:moveTo>
                  <a:lnTo>
                    <a:pt x="504825" y="0"/>
                  </a:lnTo>
                  <a:lnTo>
                    <a:pt x="5048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37" r="0" b="-43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57325" y="3921919"/>
            <a:ext cx="159734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 Preprocessing &amp; Encoding: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Clean raw data, convert categorical columns into machine-learning format via One-Hot Encoding, and scale numerical variables.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325" y="5179219"/>
            <a:ext cx="159734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Class Weighting: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Apply weighted loss functions during training to prioritize detecting minority churn instances without ignoring standard cases.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7325" y="6436519"/>
            <a:ext cx="159734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Overfitting Prevention: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Incorporate L2 Regularization, Dropout layers, and Early Stopping to build a robust model that generalizes well on unseen test data.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4057650"/>
            <a:ext cx="357188" cy="328612"/>
            <a:chOff x="0" y="0"/>
            <a:chExt cx="476250" cy="43815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476250" cy="438150"/>
            </a:xfrm>
            <a:custGeom>
              <a:avLst/>
              <a:gdLst/>
              <a:ahLst/>
              <a:cxnLst/>
              <a:rect r="r" b="b" t="t" l="l"/>
              <a:pathLst>
                <a:path h="4381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5314950"/>
            <a:ext cx="400050" cy="328612"/>
            <a:chOff x="0" y="0"/>
            <a:chExt cx="533400" cy="4381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533400" cy="438150"/>
            </a:xfrm>
            <a:custGeom>
              <a:avLst/>
              <a:gdLst/>
              <a:ahLst/>
              <a:cxnLst/>
              <a:rect r="r" b="b" t="t" l="l"/>
              <a:pathLst>
                <a:path h="43815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6572250"/>
            <a:ext cx="314325" cy="328612"/>
            <a:chOff x="0" y="0"/>
            <a:chExt cx="419100" cy="4381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50181" y="714375"/>
            <a:ext cx="16779592" cy="757238"/>
            <a:chOff x="0" y="0"/>
            <a:chExt cx="22372790" cy="10096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2796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372796">
                  <a:moveTo>
                    <a:pt x="0" y="0"/>
                  </a:moveTo>
                  <a:lnTo>
                    <a:pt x="22372796" y="0"/>
                  </a:lnTo>
                  <a:lnTo>
                    <a:pt x="22372796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1768" r="0" b="-3817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2372790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3. Proposed Solutions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7591462"/>
            <a:ext cx="16573500" cy="2419979"/>
            <a:chOff x="0" y="0"/>
            <a:chExt cx="22098000" cy="32266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3226639"/>
            </a:xfrm>
            <a:custGeom>
              <a:avLst/>
              <a:gdLst/>
              <a:ahLst/>
              <a:cxnLst/>
              <a:rect r="r" b="b" t="t" l="l"/>
              <a:pathLst>
                <a:path h="3226639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226639"/>
                  </a:lnTo>
                  <a:lnTo>
                    <a:pt x="0" y="3226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89" r="0" b="-228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95513" y="1722500"/>
            <a:ext cx="10206963" cy="5618073"/>
            <a:chOff x="0" y="0"/>
            <a:chExt cx="7048500" cy="3879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48500" cy="3879605"/>
            </a:xfrm>
            <a:custGeom>
              <a:avLst/>
              <a:gdLst/>
              <a:ahLst/>
              <a:cxnLst/>
              <a:rect r="r" b="b" t="t" l="l"/>
              <a:pathLst>
                <a:path h="3879605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879605"/>
                  </a:lnTo>
                  <a:lnTo>
                    <a:pt x="0" y="387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45" r="0" b="-10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35819"/>
            <a:ext cx="578644" cy="514350"/>
            <a:chOff x="0" y="0"/>
            <a:chExt cx="771525" cy="685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71525" cy="685800"/>
            </a:xfrm>
            <a:custGeom>
              <a:avLst/>
              <a:gdLst/>
              <a:ahLst/>
              <a:cxnLst/>
              <a:rect r="r" b="b" t="t" l="l"/>
              <a:pathLst>
                <a:path h="685800" w="771525">
                  <a:moveTo>
                    <a:pt x="0" y="0"/>
                  </a:moveTo>
                  <a:lnTo>
                    <a:pt x="771525" y="0"/>
                  </a:lnTo>
                  <a:lnTo>
                    <a:pt x="7715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62" r="0" b="-76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0206" y="714375"/>
            <a:ext cx="16569566" cy="757238"/>
            <a:chOff x="0" y="0"/>
            <a:chExt cx="22092755" cy="1009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92760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092760">
                  <a:moveTo>
                    <a:pt x="0" y="0"/>
                  </a:moveTo>
                  <a:lnTo>
                    <a:pt x="22092760" y="0"/>
                  </a:lnTo>
                  <a:lnTo>
                    <a:pt x="2209276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363" r="0" b="-3763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092755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4. Exploratory Data Analysis (EDA)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7591462"/>
            <a:ext cx="16573500" cy="2419979"/>
            <a:chOff x="0" y="0"/>
            <a:chExt cx="22098000" cy="32266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3226639"/>
            </a:xfrm>
            <a:custGeom>
              <a:avLst/>
              <a:gdLst/>
              <a:ahLst/>
              <a:cxnLst/>
              <a:rect r="r" b="b" t="t" l="l"/>
              <a:pathLst>
                <a:path h="3226639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226639"/>
                  </a:lnTo>
                  <a:lnTo>
                    <a:pt x="0" y="3226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53" r="0" b="-105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95513" y="1722500"/>
            <a:ext cx="10206963" cy="5618073"/>
            <a:chOff x="0" y="0"/>
            <a:chExt cx="7048500" cy="3879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48500" cy="3879605"/>
            </a:xfrm>
            <a:custGeom>
              <a:avLst/>
              <a:gdLst/>
              <a:ahLst/>
              <a:cxnLst/>
              <a:rect r="r" b="b" t="t" l="l"/>
              <a:pathLst>
                <a:path h="3879605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879605"/>
                  </a:lnTo>
                  <a:lnTo>
                    <a:pt x="0" y="387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45" r="0" b="-10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35819"/>
            <a:ext cx="578644" cy="514350"/>
            <a:chOff x="0" y="0"/>
            <a:chExt cx="771525" cy="685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71525" cy="685800"/>
            </a:xfrm>
            <a:custGeom>
              <a:avLst/>
              <a:gdLst/>
              <a:ahLst/>
              <a:cxnLst/>
              <a:rect r="r" b="b" t="t" l="l"/>
              <a:pathLst>
                <a:path h="685800" w="771525">
                  <a:moveTo>
                    <a:pt x="0" y="0"/>
                  </a:moveTo>
                  <a:lnTo>
                    <a:pt x="771525" y="0"/>
                  </a:lnTo>
                  <a:lnTo>
                    <a:pt x="7715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62" r="0" b="-76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0206" y="714375"/>
            <a:ext cx="16569566" cy="757238"/>
            <a:chOff x="0" y="0"/>
            <a:chExt cx="22092755" cy="1009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92760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092760">
                  <a:moveTo>
                    <a:pt x="0" y="0"/>
                  </a:moveTo>
                  <a:lnTo>
                    <a:pt x="22092760" y="0"/>
                  </a:lnTo>
                  <a:lnTo>
                    <a:pt x="2209276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363" r="0" b="-3763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092755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4. Exploratory Data Analysis (EDA)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7588224"/>
            <a:ext cx="16573500" cy="2423217"/>
            <a:chOff x="0" y="0"/>
            <a:chExt cx="22098000" cy="32309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3230956"/>
            </a:xfrm>
            <a:custGeom>
              <a:avLst/>
              <a:gdLst/>
              <a:ahLst/>
              <a:cxnLst/>
              <a:rect r="r" b="b" t="t" l="l"/>
              <a:pathLst>
                <a:path h="3230956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230956"/>
                  </a:lnTo>
                  <a:lnTo>
                    <a:pt x="0" y="3230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50" r="0" b="-285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95513" y="1722500"/>
            <a:ext cx="10206963" cy="5618073"/>
            <a:chOff x="0" y="0"/>
            <a:chExt cx="7048500" cy="38796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48500" cy="3879605"/>
            </a:xfrm>
            <a:custGeom>
              <a:avLst/>
              <a:gdLst/>
              <a:ahLst/>
              <a:cxnLst/>
              <a:rect r="r" b="b" t="t" l="l"/>
              <a:pathLst>
                <a:path h="3879605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879605"/>
                  </a:lnTo>
                  <a:lnTo>
                    <a:pt x="0" y="387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51" r="0" b="-95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35819"/>
            <a:ext cx="578644" cy="514350"/>
            <a:chOff x="0" y="0"/>
            <a:chExt cx="771525" cy="685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71525" cy="685800"/>
            </a:xfrm>
            <a:custGeom>
              <a:avLst/>
              <a:gdLst/>
              <a:ahLst/>
              <a:cxnLst/>
              <a:rect r="r" b="b" t="t" l="l"/>
              <a:pathLst>
                <a:path h="685800" w="771525">
                  <a:moveTo>
                    <a:pt x="0" y="0"/>
                  </a:moveTo>
                  <a:lnTo>
                    <a:pt x="771525" y="0"/>
                  </a:lnTo>
                  <a:lnTo>
                    <a:pt x="7715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62" r="0" b="-76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0206" y="714375"/>
            <a:ext cx="16569566" cy="757238"/>
            <a:chOff x="0" y="0"/>
            <a:chExt cx="22092755" cy="1009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92760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092760">
                  <a:moveTo>
                    <a:pt x="0" y="0"/>
                  </a:moveTo>
                  <a:lnTo>
                    <a:pt x="22092760" y="0"/>
                  </a:lnTo>
                  <a:lnTo>
                    <a:pt x="2209276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6363" r="0" b="-37636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092755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4. Exploratory Data Analysis (EDA)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07531"/>
            <a:ext cx="8072438" cy="5257800"/>
            <a:chOff x="0" y="0"/>
            <a:chExt cx="10763250" cy="70104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63250" cy="7010400"/>
            </a:xfrm>
            <a:custGeom>
              <a:avLst/>
              <a:gdLst/>
              <a:ahLst/>
              <a:cxnLst/>
              <a:rect r="r" b="b" t="t" l="l"/>
              <a:pathLst>
                <a:path h="70104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7010400"/>
                  </a:lnTo>
                  <a:lnTo>
                    <a:pt x="0" y="701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5" r="0" b="-13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58312" y="3107531"/>
            <a:ext cx="8072438" cy="5257800"/>
            <a:chOff x="0" y="0"/>
            <a:chExt cx="10763250" cy="7010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63250" cy="7010400"/>
            </a:xfrm>
            <a:custGeom>
              <a:avLst/>
              <a:gdLst/>
              <a:ahLst/>
              <a:cxnLst/>
              <a:rect r="r" b="b" t="t" l="l"/>
              <a:pathLst>
                <a:path h="70104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7010400"/>
                  </a:lnTo>
                  <a:lnTo>
                    <a:pt x="0" y="701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5" r="0" b="-13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35819"/>
            <a:ext cx="635794" cy="514350"/>
            <a:chOff x="0" y="0"/>
            <a:chExt cx="847725" cy="685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47725" cy="685800"/>
            </a:xfrm>
            <a:custGeom>
              <a:avLst/>
              <a:gdLst/>
              <a:ahLst/>
              <a:cxnLst/>
              <a:rect r="r" b="b" t="t" l="l"/>
              <a:pathLst>
                <a:path h="685800" w="847725">
                  <a:moveTo>
                    <a:pt x="0" y="0"/>
                  </a:moveTo>
                  <a:lnTo>
                    <a:pt x="847725" y="0"/>
                  </a:lnTo>
                  <a:lnTo>
                    <a:pt x="8477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8" r="0" b="-81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76388" y="3559969"/>
            <a:ext cx="7238286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Data Cleaning &amp; Scaling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9800" y="3559969"/>
            <a:ext cx="7485936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Data Splitting &amp; Integrity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2994" y="3579019"/>
            <a:ext cx="371475" cy="371475"/>
            <a:chOff x="0" y="0"/>
            <a:chExt cx="495300" cy="4953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923" r="0" b="-192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928812" y="4350544"/>
            <a:ext cx="6529388" cy="55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Cleaned missing values in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TotalCharges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28812" y="5136356"/>
            <a:ext cx="65293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Applied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One-Hot Encoding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categorical attributes.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8812" y="6393656"/>
            <a:ext cx="65293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Standardized numerical attributes using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StandardScaler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29875" y="4350544"/>
            <a:ext cx="65293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Separated predictor features from the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Churn target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9875" y="5607844"/>
            <a:ext cx="65293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Partitioned into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Train, Validation, and Test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29875" y="6865144"/>
            <a:ext cx="652938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pipeline construction to prevent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 leakage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28738" y="4486275"/>
            <a:ext cx="271462" cy="328612"/>
            <a:chOff x="0" y="0"/>
            <a:chExt cx="361950" cy="4381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28738" y="5272088"/>
            <a:ext cx="271462" cy="328612"/>
            <a:chOff x="0" y="0"/>
            <a:chExt cx="361950" cy="4381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28738" y="6529388"/>
            <a:ext cx="271462" cy="328612"/>
            <a:chOff x="0" y="0"/>
            <a:chExt cx="361950" cy="4381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29800" y="4486275"/>
            <a:ext cx="271462" cy="328612"/>
            <a:chOff x="0" y="0"/>
            <a:chExt cx="361950" cy="4381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29800" y="5743575"/>
            <a:ext cx="271462" cy="328612"/>
            <a:chOff x="0" y="0"/>
            <a:chExt cx="361950" cy="4381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29800" y="7000875"/>
            <a:ext cx="271462" cy="328612"/>
            <a:chOff x="0" y="0"/>
            <a:chExt cx="361950" cy="4381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61950" cy="438150"/>
            </a:xfrm>
            <a:custGeom>
              <a:avLst/>
              <a:gdLst/>
              <a:ahLst/>
              <a:cxnLst/>
              <a:rect r="r" b="b" t="t" l="l"/>
              <a:pathLst>
                <a:path h="43815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10752" y="612890"/>
            <a:ext cx="16509559" cy="960207"/>
            <a:chOff x="0" y="0"/>
            <a:chExt cx="22012745" cy="12802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012749" cy="1280275"/>
            </a:xfrm>
            <a:custGeom>
              <a:avLst/>
              <a:gdLst/>
              <a:ahLst/>
              <a:cxnLst/>
              <a:rect r="r" b="b" t="t" l="l"/>
              <a:pathLst>
                <a:path h="1280275" w="22012749">
                  <a:moveTo>
                    <a:pt x="0" y="0"/>
                  </a:moveTo>
                  <a:lnTo>
                    <a:pt x="22012749" y="0"/>
                  </a:lnTo>
                  <a:lnTo>
                    <a:pt x="22012749" y="1280275"/>
                  </a:lnTo>
                  <a:lnTo>
                    <a:pt x="0" y="128027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5590" r="0" b="-2744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2012745" cy="1299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5. Data Preprocessing Pipeline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471862"/>
            <a:ext cx="5286375" cy="4529138"/>
            <a:chOff x="0" y="0"/>
            <a:chExt cx="7048500" cy="6038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048500" cy="6038850"/>
            </a:xfrm>
            <a:custGeom>
              <a:avLst/>
              <a:gdLst/>
              <a:ahLst/>
              <a:cxnLst/>
              <a:rect r="r" b="b" t="t" l="l"/>
              <a:pathLst>
                <a:path h="603885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6038850"/>
                  </a:lnTo>
                  <a:lnTo>
                    <a:pt x="0" y="603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00812" y="3471862"/>
            <a:ext cx="5286375" cy="4529138"/>
            <a:chOff x="0" y="0"/>
            <a:chExt cx="7048500" cy="6038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48500" cy="6038850"/>
            </a:xfrm>
            <a:custGeom>
              <a:avLst/>
              <a:gdLst/>
              <a:ahLst/>
              <a:cxnLst/>
              <a:rect r="r" b="b" t="t" l="l"/>
              <a:pathLst>
                <a:path h="603885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6038850"/>
                  </a:lnTo>
                  <a:lnTo>
                    <a:pt x="0" y="603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4375" y="3471862"/>
            <a:ext cx="5286375" cy="4529138"/>
            <a:chOff x="0" y="0"/>
            <a:chExt cx="7048500" cy="60388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48500" cy="6038850"/>
            </a:xfrm>
            <a:custGeom>
              <a:avLst/>
              <a:gdLst/>
              <a:ahLst/>
              <a:cxnLst/>
              <a:rect r="r" b="b" t="t" l="l"/>
              <a:pathLst>
                <a:path h="603885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6038850"/>
                  </a:lnTo>
                  <a:lnTo>
                    <a:pt x="0" y="6038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835819"/>
            <a:ext cx="635794" cy="514350"/>
            <a:chOff x="0" y="0"/>
            <a:chExt cx="847725" cy="6858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47725" cy="685800"/>
            </a:xfrm>
            <a:custGeom>
              <a:avLst/>
              <a:gdLst/>
              <a:ahLst/>
              <a:cxnLst/>
              <a:rect r="r" b="b" t="t" l="l"/>
              <a:pathLst>
                <a:path h="685800" w="847725">
                  <a:moveTo>
                    <a:pt x="0" y="0"/>
                  </a:moveTo>
                  <a:lnTo>
                    <a:pt x="847725" y="0"/>
                  </a:lnTo>
                  <a:lnTo>
                    <a:pt x="8477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8" r="0" b="-81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28738" y="3943350"/>
            <a:ext cx="771525" cy="771525"/>
            <a:chOff x="0" y="0"/>
            <a:chExt cx="1028700" cy="10287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28738" y="4981575"/>
            <a:ext cx="4560570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ANN Structure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8738" y="5557837"/>
            <a:ext cx="43434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Artificial Neural Network (ANN) featuring two hidden dense layers with ReLU activation functions.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72300" y="3943350"/>
            <a:ext cx="771525" cy="771525"/>
            <a:chOff x="0" y="0"/>
            <a:chExt cx="1028700" cy="10287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72300" y="4981575"/>
            <a:ext cx="4560570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Optimization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72300" y="5557837"/>
            <a:ext cx="43434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Trained with Adam optimizer and Binary Cross-Entropy loss with added class weights.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615862" y="3943350"/>
            <a:ext cx="771525" cy="771525"/>
            <a:chOff x="0" y="0"/>
            <a:chExt cx="1028700" cy="1028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28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1028700"/>
                  </a:lnTo>
                  <a:lnTo>
                    <a:pt x="0" y="10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615862" y="4981575"/>
            <a:ext cx="4560570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Regularization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15862" y="5557837"/>
            <a:ext cx="43434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Dropout, L2 Regularization, and Early Stopping to monitor validation and prevent overfitting.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85900" y="4129088"/>
            <a:ext cx="457200" cy="400050"/>
            <a:chOff x="0" y="0"/>
            <a:chExt cx="609600" cy="533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158038" y="4129088"/>
            <a:ext cx="400050" cy="400050"/>
            <a:chOff x="0" y="0"/>
            <a:chExt cx="533400" cy="5334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23031" y="4129088"/>
            <a:ext cx="357188" cy="400050"/>
            <a:chOff x="0" y="0"/>
            <a:chExt cx="476250" cy="5334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7625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000" t="0" r="-200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07356" y="714375"/>
            <a:ext cx="16509559" cy="757238"/>
            <a:chOff x="0" y="0"/>
            <a:chExt cx="22012745" cy="10096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12749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012749">
                  <a:moveTo>
                    <a:pt x="0" y="0"/>
                  </a:moveTo>
                  <a:lnTo>
                    <a:pt x="22012749" y="0"/>
                  </a:lnTo>
                  <a:lnTo>
                    <a:pt x="22012749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74819" r="0" b="-3748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2012745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6. Deep Learning Architecture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6286500"/>
            <a:ext cx="16573500" cy="2014538"/>
            <a:chOff x="0" y="0"/>
            <a:chExt cx="22098000" cy="2686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2686050"/>
            </a:xfrm>
            <a:custGeom>
              <a:avLst/>
              <a:gdLst/>
              <a:ahLst/>
              <a:cxnLst/>
              <a:rect r="r" b="b" t="t" l="l"/>
              <a:pathLst>
                <a:path h="2686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686050"/>
                  </a:lnTo>
                  <a:lnTo>
                    <a:pt x="0" y="2686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3171825"/>
            <a:ext cx="5286375" cy="2757488"/>
            <a:chOff x="0" y="0"/>
            <a:chExt cx="7048500" cy="36766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48500" cy="3676650"/>
            </a:xfrm>
            <a:custGeom>
              <a:avLst/>
              <a:gdLst/>
              <a:ahLst/>
              <a:cxnLst/>
              <a:rect r="r" b="b" t="t" l="l"/>
              <a:pathLst>
                <a:path h="367665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676650"/>
                  </a:lnTo>
                  <a:lnTo>
                    <a:pt x="0" y="3676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00812" y="3171825"/>
            <a:ext cx="5286375" cy="2757488"/>
            <a:chOff x="0" y="0"/>
            <a:chExt cx="7048500" cy="36766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48500" cy="3676650"/>
            </a:xfrm>
            <a:custGeom>
              <a:avLst/>
              <a:gdLst/>
              <a:ahLst/>
              <a:cxnLst/>
              <a:rect r="r" b="b" t="t" l="l"/>
              <a:pathLst>
                <a:path h="367665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676650"/>
                  </a:lnTo>
                  <a:lnTo>
                    <a:pt x="0" y="3676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4375" y="3171825"/>
            <a:ext cx="5286375" cy="2757488"/>
            <a:chOff x="0" y="0"/>
            <a:chExt cx="7048500" cy="36766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048500" cy="3676650"/>
            </a:xfrm>
            <a:custGeom>
              <a:avLst/>
              <a:gdLst/>
              <a:ahLst/>
              <a:cxnLst/>
              <a:rect r="r" b="b" t="t" l="l"/>
              <a:pathLst>
                <a:path h="367665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676650"/>
                  </a:lnTo>
                  <a:lnTo>
                    <a:pt x="0" y="3676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835819"/>
            <a:ext cx="578644" cy="514350"/>
            <a:chOff x="0" y="0"/>
            <a:chExt cx="771525" cy="685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71525" cy="685800"/>
            </a:xfrm>
            <a:custGeom>
              <a:avLst/>
              <a:gdLst/>
              <a:ahLst/>
              <a:cxnLst/>
              <a:rect r="r" b="b" t="t" l="l"/>
              <a:pathLst>
                <a:path h="685800" w="771525">
                  <a:moveTo>
                    <a:pt x="0" y="0"/>
                  </a:moveTo>
                  <a:lnTo>
                    <a:pt x="771525" y="0"/>
                  </a:lnTo>
                  <a:lnTo>
                    <a:pt x="7715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62" r="0" b="-76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00162" y="6500813"/>
            <a:ext cx="15687675" cy="1500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Detailed Churn Metrics: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Precision: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0.54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| Recall: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0.78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| F1-Score: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0.63</a:t>
            </a:r>
          </a:p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Business Value: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 recall ensures the system successfully captures a vast majority of actual churners, allowing proactive retention intervention.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0162" y="3729038"/>
            <a:ext cx="44005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650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0.8438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0162" y="4719637"/>
            <a:ext cx="44005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Neural Network Test AUC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0162" y="5176837"/>
            <a:ext cx="44005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Outperformed Baseline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43725" y="3729038"/>
            <a:ext cx="44005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6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0.8180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43725" y="4719637"/>
            <a:ext cx="44005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Random Forest Test AUC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43725" y="5176837"/>
            <a:ext cx="44005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Baseline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7288" y="3729038"/>
            <a:ext cx="44005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650">
                <a:solidFill>
                  <a:srgbClr val="34D399"/>
                </a:solidFill>
                <a:latin typeface="Arimo"/>
                <a:ea typeface="Arimo"/>
                <a:cs typeface="Arimo"/>
                <a:sym typeface="Arimo"/>
              </a:rPr>
              <a:t>0.78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7288" y="4719637"/>
            <a:ext cx="44005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Churn Recall Rate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7288" y="5176837"/>
            <a:ext cx="44005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 Sensitivity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650206" y="714375"/>
            <a:ext cx="16569566" cy="757238"/>
            <a:chOff x="0" y="0"/>
            <a:chExt cx="22092755" cy="10096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92760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092760">
                  <a:moveTo>
                    <a:pt x="0" y="0"/>
                  </a:moveTo>
                  <a:lnTo>
                    <a:pt x="22092760" y="0"/>
                  </a:lnTo>
                  <a:lnTo>
                    <a:pt x="2209276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363" r="0" b="-3763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2092755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7. Performance &amp; Results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35819"/>
            <a:ext cx="450056" cy="514350"/>
            <a:chOff x="0" y="0"/>
            <a:chExt cx="600075" cy="6858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00075" cy="685800"/>
            </a:xfrm>
            <a:custGeom>
              <a:avLst/>
              <a:gdLst/>
              <a:ahLst/>
              <a:cxnLst/>
              <a:rect r="r" b="b" t="t" l="l"/>
              <a:pathLst>
                <a:path h="685800" w="600075">
                  <a:moveTo>
                    <a:pt x="0" y="0"/>
                  </a:moveTo>
                  <a:lnTo>
                    <a:pt x="600075" y="0"/>
                  </a:lnTo>
                  <a:lnTo>
                    <a:pt x="60007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85" r="0" b="-58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57325" y="3293269"/>
            <a:ext cx="159734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End-to-End System: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Successfully designed and deployed an automated customer churn prediction framework.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7325" y="4550569"/>
            <a:ext cx="159734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Data-Driven Insights: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EDA revealed crucial business drivers, confirming contract types and tenure as key churn indicators.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7325" y="5807869"/>
            <a:ext cx="159734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Superior Performance: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Deep Learning (ANN) achieved superior performance (AUC 0.8438) over classic Machine Learning baselines.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325" y="7065169"/>
            <a:ext cx="1597342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7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Actionable Retention: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Enables telecom marketing teams to identify high-risk customers early and offer targeted incentives.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7250" y="3429000"/>
            <a:ext cx="314325" cy="328612"/>
            <a:chOff x="0" y="0"/>
            <a:chExt cx="419100" cy="438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4686300"/>
            <a:ext cx="314325" cy="328612"/>
            <a:chOff x="0" y="0"/>
            <a:chExt cx="419100" cy="4381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5943600"/>
            <a:ext cx="314325" cy="328612"/>
            <a:chOff x="0" y="0"/>
            <a:chExt cx="419100" cy="4381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7200900"/>
            <a:ext cx="314325" cy="328612"/>
            <a:chOff x="0" y="0"/>
            <a:chExt cx="419100" cy="4381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19100" cy="438150"/>
            </a:xfrm>
            <a:custGeom>
              <a:avLst/>
              <a:gdLst/>
              <a:ahLst/>
              <a:cxnLst/>
              <a:rect r="r" b="b" t="t" l="l"/>
              <a:pathLst>
                <a:path h="43815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21619" y="714375"/>
            <a:ext cx="16704583" cy="757238"/>
            <a:chOff x="0" y="0"/>
            <a:chExt cx="22272777" cy="1009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72782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272782">
                  <a:moveTo>
                    <a:pt x="0" y="0"/>
                  </a:moveTo>
                  <a:lnTo>
                    <a:pt x="22272782" y="0"/>
                  </a:lnTo>
                  <a:lnTo>
                    <a:pt x="22272782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9837" r="0" b="-3798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272777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8. Executive Summary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640959"/>
            <a:ext cx="16573500" cy="4414838"/>
            <a:chOff x="0" y="0"/>
            <a:chExt cx="22098000" cy="58864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5886450"/>
            </a:xfrm>
            <a:custGeom>
              <a:avLst/>
              <a:gdLst/>
              <a:ahLst/>
              <a:cxnLst/>
              <a:rect r="r" b="b" t="t" l="l"/>
              <a:pathLst>
                <a:path h="58864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886450"/>
                  </a:lnTo>
                  <a:lnTo>
                    <a:pt x="0" y="588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301" t="0" r="-830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835819"/>
            <a:ext cx="635794" cy="514350"/>
            <a:chOff x="0" y="0"/>
            <a:chExt cx="847725" cy="6858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47725" cy="685800"/>
            </a:xfrm>
            <a:custGeom>
              <a:avLst/>
              <a:gdLst/>
              <a:ahLst/>
              <a:cxnLst/>
              <a:rect r="r" b="b" t="t" l="l"/>
              <a:pathLst>
                <a:path h="685800" w="847725">
                  <a:moveTo>
                    <a:pt x="0" y="0"/>
                  </a:moveTo>
                  <a:lnTo>
                    <a:pt x="847725" y="0"/>
                  </a:lnTo>
                  <a:lnTo>
                    <a:pt x="847725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18" r="0" b="-81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86812" y="3226746"/>
            <a:ext cx="714375" cy="714375"/>
            <a:chOff x="0" y="0"/>
            <a:chExt cx="952500" cy="9525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5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00" r="0" b="-100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7989" y="4126859"/>
            <a:ext cx="1617202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Interactive Streamlit Demo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3038" y="4831709"/>
            <a:ext cx="154019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 the churn prediction model live with interactive customer parameters: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50819" y="5612759"/>
            <a:ext cx="5186362" cy="857250"/>
            <a:chOff x="0" y="0"/>
            <a:chExt cx="6915150" cy="114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151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691515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6724650" y="0"/>
                  </a:lnTo>
                  <a:cubicBezTo>
                    <a:pt x="6829806" y="0"/>
                    <a:pt x="6915150" y="85344"/>
                    <a:pt x="6915150" y="190500"/>
                  </a:cubicBezTo>
                  <a:lnTo>
                    <a:pt x="6915150" y="952500"/>
                  </a:lnTo>
                  <a:cubicBezTo>
                    <a:pt x="6915150" y="1057656"/>
                    <a:pt x="6829806" y="1143000"/>
                    <a:pt x="672465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301508" y="5831834"/>
            <a:ext cx="368498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2475" u="sng">
                <a:solidFill>
                  <a:srgbClr val="020617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deep-learning-project-mm9ah4nhx8foljhsmafzp5.streamlit.app"/>
              </a:rPr>
              <a:t>Open Streamlit Web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16179" y="7555859"/>
            <a:ext cx="5055632" cy="69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4725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36556" y="8241135"/>
            <a:ext cx="481488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Any Questions or Comments?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36556" y="5884221"/>
            <a:ext cx="314325" cy="314325"/>
            <a:chOff x="0" y="0"/>
            <a:chExt cx="419100" cy="4191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07356" y="714375"/>
            <a:ext cx="16509559" cy="757238"/>
            <a:chOff x="0" y="0"/>
            <a:chExt cx="22012745" cy="10096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12749" cy="1009650"/>
            </a:xfrm>
            <a:custGeom>
              <a:avLst/>
              <a:gdLst/>
              <a:ahLst/>
              <a:cxnLst/>
              <a:rect r="r" b="b" t="t" l="l"/>
              <a:pathLst>
                <a:path h="1009650" w="22012749">
                  <a:moveTo>
                    <a:pt x="0" y="0"/>
                  </a:moveTo>
                  <a:lnTo>
                    <a:pt x="22012749" y="0"/>
                  </a:lnTo>
                  <a:lnTo>
                    <a:pt x="22012749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4819" r="0" b="-3748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2012745" cy="1028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47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9. Live Application &amp; Q&amp;A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DAHR7_uPfdo</dc:identifier>
  <dcterms:modified xsi:type="dcterms:W3CDTF">2011-08-01T06:04:30Z</dcterms:modified>
  <cp:revision>1</cp:revision>
  <dc:title>Customer Churn Prediction System.pptx</dc:title>
</cp:coreProperties>
</file>