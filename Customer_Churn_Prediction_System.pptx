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828800"/>
            <a:ext cx="5943600" cy="59436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389120"/>
            <a:ext cx="4572000" cy="457200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33172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CHURN PREDICTION SYSTEM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33375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Deep Learning Pipeline for Telecom Customer Retention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41605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  </a:t>
            </a:r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Regularization  </a:t>
            </a:r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Keras Tuner  </a:t>
            </a:r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Deployment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6172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Unit — Final Project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Problem &amp; Objective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5486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is cheaper than acquisition.
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Acquiring a new telecom customer costs 5–25x more than retaining an existing one. Predicting churn before it happens lets retention teams intervene early — with offers, upgrades, or improved support.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48640" y="3566160"/>
            <a:ext cx="5486400" cy="2286000"/>
          </a:xfrm>
          <a:prstGeom prst="roundRect">
            <a:avLst>
              <a:gd name="adj" fmla="val 3200"/>
            </a:avLst>
          </a:prstGeom>
          <a:solidFill>
            <a:srgbClr val="F4F7F9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37947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420624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production-ready ANN system that predicts whether a customer will churn (Yes / No), covering the full pipeline: preprocessing → model design → tuning → evaluation → deployment.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92240" y="1463040"/>
            <a:ext cx="5120640" cy="1417320"/>
          </a:xfrm>
          <a:prstGeom prst="roundRect">
            <a:avLst>
              <a:gd name="adj" fmla="val 5161"/>
            </a:avLst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6766560" y="1627632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5–25x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8778240" y="1627632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 new vs.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 customer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92240" y="3154680"/>
            <a:ext cx="5120640" cy="1417320"/>
          </a:xfrm>
          <a:prstGeom prst="roundRect">
            <a:avLst>
              <a:gd name="adj" fmla="val 5161"/>
            </a:avLst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6766560" y="3319272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~27%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8778240" y="3319272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in this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who churned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92240" y="4846320"/>
            <a:ext cx="5120640" cy="1417320"/>
          </a:xfrm>
          <a:prstGeom prst="roundRect">
            <a:avLst>
              <a:gd name="adj" fmla="val 5161"/>
            </a:avLst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0" y="5010912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84%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8778240" y="5010912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of the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ANN model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Telco Customer Churn Dataset (Kaggle)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4F7F9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810512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7,043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77240" y="2395728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43400" y="169164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4F7F9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0" y="1810512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572000" y="2395728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Features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138160" y="169164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4F7F9"/>
          </a:solidFill>
          <a:ln/>
        </p:spPr>
      </p:sp>
      <p:sp>
        <p:nvSpPr>
          <p:cNvPr id="11" name="Text 9"/>
          <p:cNvSpPr/>
          <p:nvPr/>
        </p:nvSpPr>
        <p:spPr>
          <a:xfrm>
            <a:off x="8366760" y="1810512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366760" y="2395728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Groups: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 · Account · Services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3337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Variable — Churn (imbalanced)</a:t>
            </a:r>
            <a:endParaRPr lang="en-US" sz="1500" dirty="0"/>
          </a:p>
        </p:txBody>
      </p:sp>
      <p:pic>
        <p:nvPicPr>
          <p:cNvPr id="14" name="Image 0" descr="cell7_out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703320"/>
            <a:ext cx="4206240" cy="278892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5120640" y="3337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Highlights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5120640" y="3794760"/>
            <a:ext cx="64922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Demographics: gender, senior citizen, partner, dependents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Account: tenure, contract type, payment method, paperless billing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Services: internet, phone, security, backup, streaming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Billing: monthly charges, total charges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 — Key Insights</a:t>
            </a:r>
            <a:endParaRPr lang="en-US" sz="3200" dirty="0"/>
          </a:p>
        </p:txBody>
      </p:sp>
      <p:pic>
        <p:nvPicPr>
          <p:cNvPr id="3" name="Image 0" descr="cell7_out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5486400" cy="3108960"/>
          </a:xfrm>
          <a:prstGeom prst="rect">
            <a:avLst/>
          </a:prstGeom>
        </p:spPr>
      </p:pic>
      <p:pic>
        <p:nvPicPr>
          <p:cNvPr id="4" name="Image 1" descr="cell7_out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280160"/>
            <a:ext cx="5486400" cy="310896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548640" y="4572000"/>
            <a:ext cx="5486400" cy="1737360"/>
          </a:xfrm>
          <a:prstGeom prst="roundRect">
            <a:avLst>
              <a:gd name="adj" fmla="val 4211"/>
            </a:avLst>
          </a:prstGeom>
          <a:solidFill>
            <a:srgbClr val="F4F7F9"/>
          </a:solidFill>
          <a:ln/>
        </p:spPr>
      </p:sp>
      <p:sp>
        <p:nvSpPr>
          <p:cNvPr id="6" name="Text 2"/>
          <p:cNvSpPr/>
          <p:nvPr/>
        </p:nvSpPr>
        <p:spPr>
          <a:xfrm>
            <a:off x="822960" y="475488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type drives churn. 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Month-to-month customers churn far more than 1- or 2-year contract holders — the single strongest retention lever.</a:t>
            </a:r>
            <a:endParaRPr lang="en-US" sz="1300" dirty="0"/>
          </a:p>
        </p:txBody>
      </p:sp>
      <p:sp>
        <p:nvSpPr>
          <p:cNvPr id="7" name="Shape 3"/>
          <p:cNvSpPr/>
          <p:nvPr/>
        </p:nvSpPr>
        <p:spPr>
          <a:xfrm>
            <a:off x="6309360" y="4572000"/>
            <a:ext cx="5486400" cy="1737360"/>
          </a:xfrm>
          <a:prstGeom prst="roundRect">
            <a:avLst>
              <a:gd name="adj" fmla="val 4211"/>
            </a:avLst>
          </a:prstGeom>
          <a:solidFill>
            <a:srgbClr val="F4F7F9"/>
          </a:solidFill>
          <a:ln/>
        </p:spPr>
      </p:sp>
      <p:sp>
        <p:nvSpPr>
          <p:cNvPr id="8" name="Text 4"/>
          <p:cNvSpPr/>
          <p:nvPr/>
        </p:nvSpPr>
        <p:spPr>
          <a:xfrm>
            <a:off x="6583680" y="475488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customers are highest-risk. 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is concentrated in the first 6–12 months of tenure, then drops sharply — onboarding is critical.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Preprocessing Pipeline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before scaling/encoding — no data leakage from validation or test sets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7040880" cy="4709160"/>
          </a:xfrm>
          <a:prstGeom prst="roundRect">
            <a:avLst>
              <a:gd name="adj" fmla="val 1165"/>
            </a:avLst>
          </a:prstGeom>
          <a:solidFill>
            <a:srgbClr val="1A1A2E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83080"/>
            <a:ext cx="6492240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6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X_train_raw, X_temp_raw, y_train, y_temp = train_test_split(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6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X, y, test_size=0.30, random_state=42, stratify=y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6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6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X_val_raw, X_test_raw, y_val, y_test = train_test_split(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6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X_temp_raw, y_temp, test_size=0.50,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6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random_state=42, stratify=y_temp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6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6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preprocessor = ColumnTransformer([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6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('num', StandardScaler(), numerical_cols),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6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('cat', OneHotEncoder(drop='first'), categorical_cols)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6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6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Fit ONLY on training data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6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X_train = preprocessor.fit_transform(X_train_raw)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6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X_val   = preprocessor.transform(X_val_raw)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6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X_test  = preprocessor.transform(X_test_raw)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909560" y="1600200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7909560" y="1600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458200" y="155448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458200" y="1856232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customerID, coerce TotalCharges, impute median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909560" y="2743200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7909560" y="2743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458200" y="269748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first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458200" y="2999232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/ 15 / 15 stratified split on raw features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909560" y="3886200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7909560" y="3886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458200" y="384048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on train only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458200" y="4142232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+ OneHotEncoder fitted once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909560" y="5029200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7909560" y="5029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458200" y="498348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val/test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458200" y="5285232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fitted preprocessor — zero leakage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ANN Architecture &amp; Regularization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6675120" cy="5029200"/>
          </a:xfrm>
          <a:prstGeom prst="roundRect">
            <a:avLst>
              <a:gd name="adj" fmla="val 1091"/>
            </a:avLst>
          </a:prstGeom>
          <a:solidFill>
            <a:srgbClr val="1A1A2E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63040"/>
            <a:ext cx="612648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Sequential([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Dense(64, activation='relu',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input_shape=(input_dim,),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kernel_regularizer=l2(0.01)),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Dropout(0.3),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Dense(32, activation='relu',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kernel_regularizer=l2(0.01)),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Dropout(0.3),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Dense(1, activation='sigmoid')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model.compile(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optimizer=Adam(learning_rate=0.001),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loss='binary_crossentropy',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metrics=['accuracy', AUC(), Recall()]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early_stop = EarlyStopping(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monitor='val_loss', patience=10,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restore_best_weights=True)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452360" y="1371600"/>
            <a:ext cx="4160520" cy="1051560"/>
          </a:xfrm>
          <a:prstGeom prst="roundRect">
            <a:avLst>
              <a:gd name="adj" fmla="val 6087"/>
            </a:avLst>
          </a:prstGeom>
          <a:solidFill>
            <a:srgbClr val="F4F7F9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0" y="14630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L2 Regularization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680960" y="178308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Penalizes large weights (λ = 0.01) to reduce overfitting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452360" y="2606040"/>
            <a:ext cx="4160520" cy="1051560"/>
          </a:xfrm>
          <a:prstGeom prst="roundRect">
            <a:avLst>
              <a:gd name="adj" fmla="val 6087"/>
            </a:avLst>
          </a:prstGeom>
          <a:solidFill>
            <a:srgbClr val="F4F7F9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0" y="26974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Dropout (0.3)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680960" y="301752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Randomly disables 30% of units per layer during training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452360" y="3840480"/>
            <a:ext cx="4160520" cy="1051560"/>
          </a:xfrm>
          <a:prstGeom prst="roundRect">
            <a:avLst>
              <a:gd name="adj" fmla="val 6087"/>
            </a:avLst>
          </a:prstGeom>
          <a:solidFill>
            <a:srgbClr val="F4F7F9"/>
          </a:solidFill>
          <a:ln/>
        </p:spPr>
      </p:sp>
      <p:sp>
        <p:nvSpPr>
          <p:cNvPr id="12" name="Text 10"/>
          <p:cNvSpPr/>
          <p:nvPr/>
        </p:nvSpPr>
        <p:spPr>
          <a:xfrm>
            <a:off x="7680960" y="39319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Early Stopping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680960" y="425196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Halts training when validation loss stops improving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452360" y="5074920"/>
            <a:ext cx="4160520" cy="1051560"/>
          </a:xfrm>
          <a:prstGeom prst="roundRect">
            <a:avLst>
              <a:gd name="adj" fmla="val 6087"/>
            </a:avLst>
          </a:prstGeom>
          <a:solidFill>
            <a:srgbClr val="F4F7F9"/>
          </a:solidFill>
          <a:ln/>
        </p:spPr>
      </p:sp>
      <p:sp>
        <p:nvSpPr>
          <p:cNvPr id="15" name="Text 13"/>
          <p:cNvSpPr/>
          <p:nvPr/>
        </p:nvSpPr>
        <p:spPr>
          <a:xfrm>
            <a:off x="7680960" y="51663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 Weighting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680960" y="548640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Balances the ~73/27 churn imbalance during training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Hyperparameter Tuning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complementary strategies used before finalizing the model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11880" cy="1737360"/>
          </a:xfrm>
          <a:prstGeom prst="roundRect">
            <a:avLst>
              <a:gd name="adj" fmla="val 4211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8288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Learning-Rate Sweep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33172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across [0.1, 0.01, 0.001, 0.0001] to find a stable convergence rate before deeper tuning.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89120" y="1691640"/>
            <a:ext cx="3611880" cy="1737360"/>
          </a:xfrm>
          <a:prstGeom prst="roundRect">
            <a:avLst>
              <a:gd name="adj" fmla="val 4211"/>
            </a:avLst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4617720" y="18288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K-Fold Cross-Validation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617720" y="233172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CV on the training set to check that performance is stable across different data splits.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229600" y="1691640"/>
            <a:ext cx="3611880" cy="1737360"/>
          </a:xfrm>
          <a:prstGeom prst="roundRect">
            <a:avLst>
              <a:gd name="adj" fmla="val 4211"/>
            </a:avLst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8458200" y="18288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Keras Tuner (Random Search)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458200" y="233172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Searched units1, units2, dropout_rate, and learning_rate jointly, optimizing validation accuracy.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703320"/>
            <a:ext cx="6675120" cy="2651760"/>
          </a:xfrm>
          <a:prstGeom prst="roundRect">
            <a:avLst>
              <a:gd name="adj" fmla="val 2069"/>
            </a:avLst>
          </a:prstGeom>
          <a:solidFill>
            <a:srgbClr val="1A1A2E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886200"/>
            <a:ext cx="61264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6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model_builder(hp):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6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units1 = hp.Choice('units1', [32, 64, 128])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6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units2 = hp.Choice('units2', [16, 32, 64])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6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dropout = hp.Choice('dropout_rate', [0.2, 0.3, 0.4])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6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lr = hp.Choice('learning_rate', [0.01, 0.001, 0.0005])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6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build_tunable_model(..., lr, units1, units2, dropout)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6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tuner = kt.RandomSearch(model_builder,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6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objective='val_accuracy', max_trials=8, seed=42)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6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tuner.search(X_train, y_train, epochs=15,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6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callbacks=[EarlyStopping(patience=4)])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452360" y="370332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hyperparameters selected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452360" y="4160520"/>
            <a:ext cx="4160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units1: 64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units2: 16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dropout_rate: 0.2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learning_rate: 0.001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Performance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vs. validation curves — loss, accuracy, and AUC track closely, indicating regularization is working</a:t>
            </a:r>
            <a:endParaRPr lang="en-US" sz="1350" dirty="0"/>
          </a:p>
        </p:txBody>
      </p:sp>
      <p:pic>
        <p:nvPicPr>
          <p:cNvPr id="4" name="Image 0" descr="cell18_out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691640"/>
            <a:ext cx="11612880" cy="318211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12064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F4F7F9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525780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overfitting observed:  </a:t>
            </a:r>
            <a:pPr indent="0" marL="0"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and validation curves stay tightly aligned across all 3 metrics — loss stabilizes around 0.52–0.54, accuracy near 74–75%, and AUC between 0.84–0.845.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Results (Test Set)</a:t>
            </a:r>
            <a:endParaRPr lang="en-US" sz="3200" dirty="0"/>
          </a:p>
        </p:txBody>
      </p:sp>
      <p:pic>
        <p:nvPicPr>
          <p:cNvPr id="3" name="Image 0" descr="cell18_out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4434840" cy="3794760"/>
          </a:xfrm>
          <a:prstGeom prst="rect">
            <a:avLst/>
          </a:prstGeom>
        </p:spPr>
      </p:pic>
      <p:pic>
        <p:nvPicPr>
          <p:cNvPr id="4" name="Image 1" descr="cell18_out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1280160"/>
            <a:ext cx="4709160" cy="36576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548640" y="5166360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065A82"/>
          </a:solidFill>
          <a:ln/>
        </p:spPr>
      </p:sp>
      <p:sp>
        <p:nvSpPr>
          <p:cNvPr id="6" name="Text 2"/>
          <p:cNvSpPr/>
          <p:nvPr/>
        </p:nvSpPr>
        <p:spPr>
          <a:xfrm>
            <a:off x="822960" y="53035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76%</a:t>
            </a:r>
            <a:endParaRPr lang="en-US" sz="2600" dirty="0"/>
          </a:p>
        </p:txBody>
      </p:sp>
      <p:sp>
        <p:nvSpPr>
          <p:cNvPr id="7" name="Text 3"/>
          <p:cNvSpPr/>
          <p:nvPr/>
        </p:nvSpPr>
        <p:spPr>
          <a:xfrm>
            <a:off x="822960" y="58064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3520440" y="53035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78%</a:t>
            </a:r>
            <a:endParaRPr lang="en-US" sz="2600" dirty="0"/>
          </a:p>
        </p:txBody>
      </p:sp>
      <p:sp>
        <p:nvSpPr>
          <p:cNvPr id="9" name="Text 5"/>
          <p:cNvSpPr/>
          <p:nvPr/>
        </p:nvSpPr>
        <p:spPr>
          <a:xfrm>
            <a:off x="3520440" y="58064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Recall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6217920" y="53035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54%</a:t>
            </a:r>
            <a:endParaRPr lang="en-US" sz="2600" dirty="0"/>
          </a:p>
        </p:txBody>
      </p:sp>
      <p:sp>
        <p:nvSpPr>
          <p:cNvPr id="11" name="Text 7"/>
          <p:cNvSpPr/>
          <p:nvPr/>
        </p:nvSpPr>
        <p:spPr>
          <a:xfrm>
            <a:off x="6217920" y="58064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Precision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8915400" y="53035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0.84</a:t>
            </a:r>
            <a:endParaRPr lang="en-US" sz="2600" dirty="0"/>
          </a:p>
        </p:txBody>
      </p:sp>
      <p:sp>
        <p:nvSpPr>
          <p:cNvPr id="13" name="Text 9"/>
          <p:cNvSpPr/>
          <p:nvPr/>
        </p:nvSpPr>
        <p:spPr>
          <a:xfrm>
            <a:off x="8915400" y="58064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 Comparison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was trained on the same features as a sanity-check baseline against the ANN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7863840" cy="1737360"/>
        </p:xfrm>
        <a:graphic>
          <a:graphicData uri="http://schemas.openxmlformats.org/drawingml/2006/table">
            <a:tbl>
              <a:tblPr/>
              <a:tblGrid>
                <a:gridCol w="2621280"/>
                <a:gridCol w="2621280"/>
                <a:gridCol w="262128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AUC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 (this project)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~0.844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Tuned, regularized, class-weighted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~0.818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Untuned baseline, n_estimators=100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749040"/>
            <a:ext cx="7863840" cy="2468880"/>
          </a:xfrm>
          <a:prstGeom prst="roundRect">
            <a:avLst>
              <a:gd name="adj" fmla="val 2963"/>
            </a:avLst>
          </a:prstGeom>
          <a:solidFill>
            <a:srgbClr val="F4F7F9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3931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keep the ANN?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22960" y="4343400"/>
            <a:ext cx="7315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Slightly higher discriminative power (AUC) after tuning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weighting gives finer control over the recall/precision trade-off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Easier to extend with more data or additional layers as the business scales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8686800" y="1783080"/>
            <a:ext cx="2926080" cy="4434840"/>
          </a:xfrm>
          <a:prstGeom prst="roundRect">
            <a:avLst>
              <a:gd name="adj" fmla="val 2500"/>
            </a:avLst>
          </a:prstGeom>
          <a:solidFill>
            <a:srgbClr val="1C7293"/>
          </a:solidFill>
          <a:ln/>
        </p:spPr>
      </p:sp>
      <p:sp>
        <p:nvSpPr>
          <p:cNvPr id="9" name="Text 6"/>
          <p:cNvSpPr/>
          <p:nvPr/>
        </p:nvSpPr>
        <p:spPr>
          <a:xfrm>
            <a:off x="8915400" y="2011680"/>
            <a:ext cx="246888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remains a useful,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low-maintenance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sanity check —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to train and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to outliers.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 &amp; Inference Pipeline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6949440" cy="5029200"/>
          </a:xfrm>
          <a:prstGeom prst="roundRect">
            <a:avLst>
              <a:gd name="adj" fmla="val 1091"/>
            </a:avLst>
          </a:prstGeom>
          <a:solidFill>
            <a:srgbClr val="1A1A2E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63040"/>
            <a:ext cx="640080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final_model.save('final_churn_model.h5')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joblib.dump(preprocessor, 'preprocessor.pkl')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predict_customer_churn(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customer_data,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model_path='final_churn_model.h5',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preprocessor_path='preprocessor.pkl'):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 = tf.keras.models.load_model(model_path)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prep = joblib.load(preprocessor_path)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df = pd.DataFrame([customer_data])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processed = prep.transform(df)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prob = model.predict(processed)[0][0]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pred = int(prob &gt; 0.5)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6F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prob, pred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818120" y="1371600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7818120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321040" y="13258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321040" y="1627632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+ preprocessor persisted to disk (.h5 / .pkl)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818120" y="2560320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7818120" y="2560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321040" y="25146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321040" y="2816352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artifacts reloaded at inference time — no retraining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818120" y="3749040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7818120" y="3749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321040" y="37033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321040" y="4005072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customer record passed through the same fitted preprocessor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818120" y="4937760"/>
            <a:ext cx="365760" cy="3657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7818120" y="4937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321040" y="48920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321040" y="5193792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outputs churn probability + binary decision at 0.5 threshold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5486400" cy="54864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Summary &amp; Limitations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worked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E6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 reaches ~84% ROC-AUC with no overfitting (train/val curves aligned)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E6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weighting lifted churn recall to ~78% — few at-risk customers missed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E6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reproducible pipeline: leak-free preprocessing, saved model + preprocessor, reusable inference function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309360" y="1371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64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309360" y="1828800"/>
            <a:ext cx="5394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E6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precision is moderate (~54%) — about half of flagged customers won't actually churn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E6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Single-snapshot dataset — no time-series/behavioral trend features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E6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one provider's data; may need retraining for other markets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4572000"/>
            <a:ext cx="11064240" cy="1554480"/>
          </a:xfrm>
          <a:prstGeom prst="roundRect">
            <a:avLst>
              <a:gd name="adj" fmla="val 4706"/>
            </a:avLst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475488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line:  </a:t>
            </a:r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reliably flags high-risk customers, trading some false alarms for very few missed churners — a sensible trade-off when the cost of losing a customer far exceeds the cost of a retention offer.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2026-08-07T04:47:48Z</dcterms:created>
  <dcterms:modified xsi:type="dcterms:W3CDTF">2026-08-07T04:47:48Z</dcterms:modified>
</cp:coreProperties>
</file>